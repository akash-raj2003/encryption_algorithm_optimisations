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4" r:id="rId8"/>
    <p:sldId id="262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185BB-8B07-4DC9-86F3-2A225C777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1261872"/>
            <a:ext cx="7638222" cy="2852928"/>
          </a:xfrm>
        </p:spPr>
        <p:txBody>
          <a:bodyPr anchor="b">
            <a:normAutofit/>
          </a:bodyPr>
          <a:lstStyle>
            <a:lvl1pPr algn="l">
              <a:lnSpc>
                <a:spcPct val="130000"/>
              </a:lnSpc>
              <a:defRPr sz="3600" spc="1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4D496A-6E7A-4923-8ED5-B4164125DE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0200" y="4681728"/>
            <a:ext cx="7638222" cy="9292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buNone/>
              <a:defRPr sz="1600" b="1" cap="all" spc="6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E3D20-43DC-4C14-8CFF-18545AED1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FC300-5AFC-418B-85FD-EFA94BD7A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C7E81-ED3C-4DB0-8E74-AD2A87E6B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0C817C9-850F-4FB6-B93B-CF3076C4A5C1}"/>
              </a:ext>
            </a:extLst>
          </p:cNvPr>
          <p:cNvGrpSpPr/>
          <p:nvPr/>
        </p:nvGrpSpPr>
        <p:grpSpPr>
          <a:xfrm flipH="1">
            <a:off x="0" y="0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59433A8-B67D-4675-AFDE-131069A709FC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>
                <a:gd name="connsiteX0" fmla="*/ 757287 w 757287"/>
                <a:gd name="connsiteY0" fmla="*/ 3694096 h 3694096"/>
                <a:gd name="connsiteX1" fmla="*/ 757287 w 757287"/>
                <a:gd name="connsiteY1" fmla="*/ 0 h 3694096"/>
                <a:gd name="connsiteX2" fmla="*/ 0 w 757287"/>
                <a:gd name="connsiteY2" fmla="*/ 0 h 3694096"/>
                <a:gd name="connsiteX3" fmla="*/ 0 w 757287"/>
                <a:gd name="connsiteY3" fmla="*/ 3686094 h 369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1CD1C45-6A4D-4237-B39C-2D58F401A8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85429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25F8D-0421-4AEC-9C40-A13163EC8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37680-115A-411F-AEF6-4AC2096B4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662" y="2019299"/>
            <a:ext cx="10357666" cy="4114801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CC193-1304-4D0F-8331-14D4EC08E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455C1-CD32-4050-BAFF-51CC6B62D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AF608-FF11-4CBE-B717-5D56AE67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526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BD23A02E-6DCF-427A-8CFD-281B2185C7F0}"/>
              </a:ext>
            </a:extLst>
          </p:cNvPr>
          <p:cNvSpPr/>
          <p:nvPr/>
        </p:nvSpPr>
        <p:spPr>
          <a:xfrm>
            <a:off x="3242985" y="511814"/>
            <a:ext cx="5706031" cy="570603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dist="165100" dir="2220000" algn="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B4C32-F19C-44F3-8EF8-1F506D74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9192" y="1709738"/>
            <a:ext cx="4893617" cy="25538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89729-131C-4F78-9DAA-E9EE28EA9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2249" y="4540468"/>
            <a:ext cx="4067503" cy="11540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 b="1" cap="all" spc="6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4E608-AC1F-41FB-974A-BD619C6C2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86158-8B03-45C3-891D-0357B198B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3B054-E8A2-43FD-B0FB-B1CCFA4BC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82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64AA7-6D5A-402E-AD1A-880F2BDB7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D32B6-F9D8-4A43-B52C-336CFAB00A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2976" y="2019299"/>
            <a:ext cx="4995019" cy="4157663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50CDD9-5742-4A34-BA72-7CCA72D914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3718" y="2019299"/>
            <a:ext cx="5027954" cy="4157663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2783AA-D2AB-4385-A91F-870CB6564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5AAD9C-5CA2-4DA1-84D3-B1838979F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1AB3C7-9574-47BC-932D-782BEE998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156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4C468-781B-4BC5-8DEA-B9EF2BF90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460" y="369168"/>
            <a:ext cx="10458729" cy="143981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67223F-48E4-491D-AB5D-5FC8A0C56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0101" y="1843067"/>
            <a:ext cx="5007894" cy="66200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D6B764-4B87-42FF-ABAA-69B07B88FF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0101" y="2505075"/>
            <a:ext cx="5007894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4357B9-406F-4BF9-B8FB-C53421EEF5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6061" y="1843067"/>
            <a:ext cx="4994128" cy="66200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20462B-1939-4DAA-A7DD-6BDC95054A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6061" y="2505075"/>
            <a:ext cx="4994128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6C938B-C4C2-4FA9-85CA-9CD742CD7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AD8886-0D28-4D49-8D43-151D37E94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2FDDE8-E9F8-4B6C-9A40-829617A7C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449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AE3D8-6C35-428B-B2F2-251FDE10B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983769"/>
            <a:ext cx="10094770" cy="1180574"/>
          </a:xfrm>
          <a:solidFill>
            <a:schemeClr val="accent1">
              <a:lumMod val="20000"/>
              <a:lumOff val="80000"/>
            </a:schemeClr>
          </a:solidFill>
          <a:effectLst>
            <a:outerShdw dist="165100" dir="18900000" algn="bl" rotWithShape="0">
              <a:prstClr val="black"/>
            </a:outerShdw>
          </a:effectLst>
        </p:spPr>
        <p:txBody>
          <a:bodyPr/>
          <a:lstStyle>
            <a:lvl1pPr marL="18288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0B8015-E11A-42CA-AE88-7BD73F87E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309078-34CA-45CD-B479-03906A265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D03258-F989-47B2-A643-A60CD8A77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712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DA2F31-48B6-40CE-A364-3CE73FD85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7EEA00-F166-41EB-9331-CA99BB70F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B051F-F8FC-4FF6-9783-45F9FE7AC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414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08635-A5AF-48F4-8CD2-FB0E01113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600200"/>
          </a:xfrm>
        </p:spPr>
        <p:txBody>
          <a:bodyPr anchor="t">
            <a:normAutofit/>
          </a:bodyPr>
          <a:lstStyle>
            <a:lvl1pPr>
              <a:defRPr sz="2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5E0E-DCC0-4781-A608-962B1241B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9826" y="987425"/>
            <a:ext cx="6045562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21F43E-3D50-4A1C-A289-B3D0DD0E71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31273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E70E3A-6639-4EA0-8305-C1899DAB4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6AFD57-4189-42FB-B29E-96366E51B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5E2EC-8483-4FBC-9D29-C19025FA8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351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CE581-A090-4AE9-9965-B06BDB52B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600200"/>
          </a:xfrm>
        </p:spPr>
        <p:txBody>
          <a:bodyPr anchor="t">
            <a:normAutofit/>
          </a:bodyPr>
          <a:lstStyle>
            <a:lvl1pPr>
              <a:defRPr sz="2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39DEF4-262F-4ACF-9B29-3D4B819E70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53969" y="987425"/>
            <a:ext cx="5694503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ED7CBB-7A6F-441E-9072-2494B952F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31273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159692-77BE-4A7D-AA70-635007A6E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B9A4DA-63AF-4D6A-98DB-E1D0AC741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6B7958-B19B-4C23-A82F-DD4E4B91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011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958AD-1CAD-45B3-B83D-DC9D33CD6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153F2E-0397-4423-8A88-D0059DEAF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08662" y="2019299"/>
            <a:ext cx="10357666" cy="411480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ADDE1-7025-4FA9-822D-481685085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A73E0-F328-46DC-98BE-CA0981F75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52226-010C-494F-8BE8-BF91F3553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F89E9C4-9D18-4529-BC0C-68EAE507CDF8}"/>
              </a:ext>
            </a:extLst>
          </p:cNvPr>
          <p:cNvGrpSpPr/>
          <p:nvPr/>
        </p:nvGrpSpPr>
        <p:grpSpPr>
          <a:xfrm flipH="1" flipV="1">
            <a:off x="0" y="3551521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7DF5937-0C03-4786-AB62-3CF7CECB92D6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>
                <a:gd name="connsiteX0" fmla="*/ 757287 w 757287"/>
                <a:gd name="connsiteY0" fmla="*/ 3694096 h 3694096"/>
                <a:gd name="connsiteX1" fmla="*/ 757287 w 757287"/>
                <a:gd name="connsiteY1" fmla="*/ 0 h 3694096"/>
                <a:gd name="connsiteX2" fmla="*/ 0 w 757287"/>
                <a:gd name="connsiteY2" fmla="*/ 0 h 3694096"/>
                <a:gd name="connsiteX3" fmla="*/ 0 w 757287"/>
                <a:gd name="connsiteY3" fmla="*/ 3686094 h 369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9AD93DB-2DB0-4B2D-884B-6EC4534432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97606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C635D0-31D9-44E1-911D-F7D5D54009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53914" y="624313"/>
            <a:ext cx="2537986" cy="55097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7F9230-1FA4-439D-A800-B5F006F07C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00100" y="624313"/>
            <a:ext cx="7816542" cy="55097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AB2A3-7055-43AF-8BAB-0A9B74448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A1821-A311-49CD-BCB4-B4BC88661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7C6A8-813A-486A-AA90-AB28935F2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38C7A17-06CC-442C-A876-A51B2B556508}"/>
              </a:ext>
            </a:extLst>
          </p:cNvPr>
          <p:cNvGrpSpPr/>
          <p:nvPr/>
        </p:nvGrpSpPr>
        <p:grpSpPr>
          <a:xfrm flipH="1" flipV="1">
            <a:off x="0" y="3551521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4C1798A-2980-4F34-8355-7BCB6B295322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>
                <a:gd name="connsiteX0" fmla="*/ 757287 w 757287"/>
                <a:gd name="connsiteY0" fmla="*/ 3694096 h 3694096"/>
                <a:gd name="connsiteX1" fmla="*/ 757287 w 757287"/>
                <a:gd name="connsiteY1" fmla="*/ 0 h 3694096"/>
                <a:gd name="connsiteX2" fmla="*/ 0 w 757287"/>
                <a:gd name="connsiteY2" fmla="*/ 0 h 3694096"/>
                <a:gd name="connsiteX3" fmla="*/ 0 w 757287"/>
                <a:gd name="connsiteY3" fmla="*/ 3686094 h 369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9D7542C-E4AE-488F-BC75-2E7ED83910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24104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86DAE1-1F65-43B8-A400-95E6DEEDC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61" y="365125"/>
            <a:ext cx="10357666" cy="14384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5C993-A44B-4C2D-818E-4C9000BB0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8662" y="2019299"/>
            <a:ext cx="10357666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21B6E-ECC6-47D0-9C14-812B746F15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5014" y="634204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E6171E64-FE02-4DE5-B72F-53C3706641C3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9A716-DEA9-48A9-A5BC-0F392D2B49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96200" y="6342042"/>
            <a:ext cx="3470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5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CB69E-A0E4-4558-9C62-4CD8CDD2A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6329" y="6342042"/>
            <a:ext cx="5262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B6ECC43-D65E-4A7B-A76B-D278A2184166}"/>
              </a:ext>
            </a:extLst>
          </p:cNvPr>
          <p:cNvGrpSpPr/>
          <p:nvPr/>
        </p:nvGrpSpPr>
        <p:grpSpPr>
          <a:xfrm flipV="1">
            <a:off x="11626076" y="3551521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EE443C5-5AB9-407B-A8C3-011BB14FEF06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>
                <a:gd name="connsiteX0" fmla="*/ 757287 w 757287"/>
                <a:gd name="connsiteY0" fmla="*/ 3694096 h 3694096"/>
                <a:gd name="connsiteX1" fmla="*/ 757287 w 757287"/>
                <a:gd name="connsiteY1" fmla="*/ 0 h 3694096"/>
                <a:gd name="connsiteX2" fmla="*/ 0 w 757287"/>
                <a:gd name="connsiteY2" fmla="*/ 0 h 3694096"/>
                <a:gd name="connsiteX3" fmla="*/ 0 w 757287"/>
                <a:gd name="connsiteY3" fmla="*/ 3686094 h 369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538C9FA-DA5E-4785-8F4A-CA481A3A65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00409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11" r:id="rId6"/>
    <p:sldLayoutId id="2147483706" r:id="rId7"/>
    <p:sldLayoutId id="2147483707" r:id="rId8"/>
    <p:sldLayoutId id="2147483708" r:id="rId9"/>
    <p:sldLayoutId id="2147483710" r:id="rId10"/>
    <p:sldLayoutId id="2147483709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320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30000"/>
        </a:lnSpc>
        <a:spcBef>
          <a:spcPts val="500"/>
        </a:spcBef>
        <a:buSzPct val="100000"/>
        <a:buFont typeface="Avenir Next LT Pro Light" panose="020B03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500"/>
        </a:spcBef>
        <a:buSzPct val="100000"/>
        <a:buFont typeface="Avenir Next LT Pro Light" panose="020B03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22860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820541-DBA9-4D5D-8FAD-4385CAA37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mosaic of colorful geometric shapes">
            <a:extLst>
              <a:ext uri="{FF2B5EF4-FFF2-40B4-BE49-F238E27FC236}">
                <a16:creationId xmlns:a16="http://schemas.microsoft.com/office/drawing/2014/main" id="{3FDA73E2-58CC-071B-CA6A-DF54E1D3EF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23" b="3306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94F10E6-9317-4287-B0C9-C84A09A57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56362" y="1378641"/>
            <a:ext cx="4639426" cy="44125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noFill/>
          </a:ln>
          <a:effectLst>
            <a:outerShdw dist="190500" dir="18780000" algn="tl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A8CCAB-FFCA-F677-B131-FA2CEFF326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22367" y="1378640"/>
            <a:ext cx="4093028" cy="3383409"/>
          </a:xfrm>
          <a:noFill/>
          <a:effectLst/>
        </p:spPr>
        <p:txBody>
          <a:bodyPr anchor="t">
            <a:normAutofit fontScale="90000"/>
          </a:bodyPr>
          <a:lstStyle/>
          <a:p>
            <a:r>
              <a:rPr lang="en-GB" dirty="0">
                <a:solidFill>
                  <a:srgbClr val="000000"/>
                </a:solidFill>
              </a:rPr>
              <a:t>Cyber</a:t>
            </a:r>
            <a:br>
              <a:rPr lang="en-GB" dirty="0">
                <a:solidFill>
                  <a:srgbClr val="000000"/>
                </a:solidFill>
              </a:rPr>
            </a:br>
            <a:r>
              <a:rPr lang="en-GB" dirty="0">
                <a:solidFill>
                  <a:srgbClr val="000000"/>
                </a:solidFill>
              </a:rPr>
              <a:t>security</a:t>
            </a:r>
            <a:br>
              <a:rPr lang="en-GB" dirty="0">
                <a:solidFill>
                  <a:srgbClr val="000000"/>
                </a:solidFill>
              </a:rPr>
            </a:br>
            <a:r>
              <a:rPr lang="en-GB" dirty="0">
                <a:solidFill>
                  <a:srgbClr val="000000"/>
                </a:solidFill>
              </a:rPr>
              <a:t>for </a:t>
            </a:r>
            <a:br>
              <a:rPr lang="en-GB" dirty="0">
                <a:solidFill>
                  <a:srgbClr val="000000"/>
                </a:solidFill>
              </a:rPr>
            </a:br>
            <a:r>
              <a:rPr lang="en-GB" dirty="0">
                <a:solidFill>
                  <a:srgbClr val="000000"/>
                </a:solidFill>
              </a:rPr>
              <a:t>embedded</a:t>
            </a:r>
            <a:br>
              <a:rPr lang="en-GB" dirty="0">
                <a:solidFill>
                  <a:srgbClr val="000000"/>
                </a:solidFill>
              </a:rPr>
            </a:br>
            <a:r>
              <a:rPr lang="en-GB" dirty="0">
                <a:solidFill>
                  <a:srgbClr val="000000"/>
                </a:solidFill>
              </a:rPr>
              <a:t>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B29747-2E12-B609-FBE2-AD4A313B86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22367" y="4762050"/>
            <a:ext cx="3937518" cy="788089"/>
          </a:xfrm>
        </p:spPr>
        <p:txBody>
          <a:bodyPr anchor="ctr">
            <a:normAutofit/>
          </a:bodyPr>
          <a:lstStyle/>
          <a:p>
            <a:r>
              <a:rPr lang="en-GB" sz="1400" dirty="0">
                <a:solidFill>
                  <a:srgbClr val="000000"/>
                </a:solidFill>
              </a:rPr>
              <a:t>F214426</a:t>
            </a:r>
          </a:p>
        </p:txBody>
      </p:sp>
    </p:spTree>
    <p:extLst>
      <p:ext uri="{BB962C8B-B14F-4D97-AF65-F5344CB8AC3E}">
        <p14:creationId xmlns:p14="http://schemas.microsoft.com/office/powerpoint/2010/main" val="3550128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7552B-DA7A-7141-4482-F907A638F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Part 1: deployment and assessment of cryptographic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9E2CF-B378-A1B1-2BF2-8AC54D310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2400" dirty="0"/>
              <a:t>Objectives:</a:t>
            </a:r>
          </a:p>
          <a:p>
            <a:pPr marL="0" indent="0">
              <a:buNone/>
            </a:pPr>
            <a:endParaRPr lang="en-GB" sz="2400" dirty="0"/>
          </a:p>
          <a:p>
            <a:r>
              <a:rPr lang="en-GB" sz="2400" dirty="0"/>
              <a:t>Deploy XTEA and Blowfish encryption algorithms.</a:t>
            </a:r>
          </a:p>
          <a:p>
            <a:r>
              <a:rPr lang="en-GB" sz="2400" dirty="0"/>
              <a:t>Collect their inference times and memory utilisation under O0 and O3 optimisations.</a:t>
            </a:r>
          </a:p>
          <a:p>
            <a:r>
              <a:rPr lang="en-GB" sz="2400" dirty="0"/>
              <a:t>Compare them with AES algorithm.</a:t>
            </a:r>
          </a:p>
          <a:p>
            <a:r>
              <a:rPr lang="en-GB" sz="2400" dirty="0"/>
              <a:t>Implement firmware integrity check (SHA256).</a:t>
            </a:r>
          </a:p>
          <a:p>
            <a:r>
              <a:rPr lang="en-GB" sz="2400" dirty="0"/>
              <a:t>Choose a suitable algorithm to be used for part 2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4343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E0488-776F-9B8C-7A14-D651BEFB2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40D51A-477A-1E83-F278-30E3D8D701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8383" y="195385"/>
            <a:ext cx="8735233" cy="41148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E7FA3D-7F33-4F06-C879-8315EE387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650" y="4730504"/>
            <a:ext cx="9478698" cy="176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1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D73B4-DA8C-732B-738A-BF7417B86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C419A-2033-689A-4C00-EFF639A5C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/>
              <a:t>XTEA algorithm was chosen for part 2 because of its low execution time and lower memory requirements compared to Blowfish and AES.</a:t>
            </a:r>
          </a:p>
          <a:p>
            <a:r>
              <a:rPr lang="en-GB" sz="2400" dirty="0"/>
              <a:t>It is best suited for resource constrained embedded systems such as the drone that is used in part 2.</a:t>
            </a:r>
          </a:p>
          <a:p>
            <a:r>
              <a:rPr lang="en-GB" sz="2400" dirty="0"/>
              <a:t>It maintains a good balance of speed and its cryptographic encryption strength.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06947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5CCDC-A691-6C1C-58F1-34C91D0DB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 2: mission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0B0F5-8F83-A06A-C935-BA122C994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Objectives:</a:t>
            </a:r>
          </a:p>
          <a:p>
            <a:r>
              <a:rPr lang="en-GB" dirty="0"/>
              <a:t>Simulate communication between ground station and drone</a:t>
            </a:r>
          </a:p>
          <a:p>
            <a:r>
              <a:rPr lang="en-GB" dirty="0"/>
              <a:t>Protect long term credentials</a:t>
            </a:r>
          </a:p>
          <a:p>
            <a:r>
              <a:rPr lang="en-GB" dirty="0"/>
              <a:t>Generate random car plates and encrypt it before sending it to ground station.</a:t>
            </a:r>
          </a:p>
          <a:p>
            <a:r>
              <a:rPr lang="en-GB" dirty="0"/>
              <a:t>Encrypt the secret message before sending it to ground station.</a:t>
            </a:r>
          </a:p>
          <a:p>
            <a:r>
              <a:rPr lang="en-GB" dirty="0"/>
              <a:t>Achieve security level 3.</a:t>
            </a:r>
          </a:p>
        </p:txBody>
      </p:sp>
    </p:spTree>
    <p:extLst>
      <p:ext uri="{BB962C8B-B14F-4D97-AF65-F5344CB8AC3E}">
        <p14:creationId xmlns:p14="http://schemas.microsoft.com/office/powerpoint/2010/main" val="3354367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0C817C9-850F-4FB6-B93B-CF3076C4A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0" y="0"/>
            <a:ext cx="567782" cy="3306479"/>
            <a:chOff x="11619770" y="-2005"/>
            <a:chExt cx="567782" cy="3306479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59433A8-B67D-4675-AFDE-131069A709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V="1">
              <a:off x="11619770" y="373807"/>
              <a:ext cx="526228" cy="2930667"/>
            </a:xfrm>
            <a:custGeom>
              <a:avLst/>
              <a:gdLst>
                <a:gd name="connsiteX0" fmla="*/ 757287 w 757287"/>
                <a:gd name="connsiteY0" fmla="*/ 3694096 h 3694096"/>
                <a:gd name="connsiteX1" fmla="*/ 757287 w 757287"/>
                <a:gd name="connsiteY1" fmla="*/ 0 h 3694096"/>
                <a:gd name="connsiteX2" fmla="*/ 0 w 757287"/>
                <a:gd name="connsiteY2" fmla="*/ 0 h 3694096"/>
                <a:gd name="connsiteX3" fmla="*/ 0 w 757287"/>
                <a:gd name="connsiteY3" fmla="*/ 3686094 h 369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1CD1C45-6A4D-4237-B39C-2D58F401A8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9727012-97DE-47A6-9F25-DBDC9FEE5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66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C1E0DC-5690-9CDE-5A47-222A440B4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6377" y="853253"/>
            <a:ext cx="5295900" cy="268765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3600" spc="1300" dirty="0"/>
              <a:t>Board </a:t>
            </a:r>
            <a:r>
              <a:rPr lang="en-US" sz="3600" spc="1300" dirty="0" err="1"/>
              <a:t>uid</a:t>
            </a:r>
            <a:r>
              <a:rPr lang="en-US" sz="3600" spc="1300" dirty="0"/>
              <a:t> located at 0x1FF0F420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E48B60-B77C-450C-BC12-CFB448D6E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80821" y="1587489"/>
            <a:ext cx="3569464" cy="44634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FC41B72-DD06-4339-8DAF-4CBDEE2B22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7946" y="-14855"/>
            <a:ext cx="1740455" cy="5921585"/>
          </a:xfrm>
          <a:custGeom>
            <a:avLst/>
            <a:gdLst>
              <a:gd name="connsiteX0" fmla="*/ 757287 w 757287"/>
              <a:gd name="connsiteY0" fmla="*/ 3694096 h 3694096"/>
              <a:gd name="connsiteX1" fmla="*/ 757287 w 757287"/>
              <a:gd name="connsiteY1" fmla="*/ 0 h 3694096"/>
              <a:gd name="connsiteX2" fmla="*/ 0 w 757287"/>
              <a:gd name="connsiteY2" fmla="*/ 0 h 3694096"/>
              <a:gd name="connsiteX3" fmla="*/ 0 w 757287"/>
              <a:gd name="connsiteY3" fmla="*/ 3686094 h 3694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7287" h="3694096">
                <a:moveTo>
                  <a:pt x="757287" y="3694096"/>
                </a:moveTo>
                <a:lnTo>
                  <a:pt x="757287" y="0"/>
                </a:lnTo>
                <a:lnTo>
                  <a:pt x="0" y="0"/>
                </a:lnTo>
                <a:lnTo>
                  <a:pt x="0" y="3686094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tile tx="0" ty="0" sx="6000" sy="6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E611935-A589-4943-AA94-8808AFAA2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2761" y="1049320"/>
            <a:ext cx="3600830" cy="450586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dist="165100" dir="13500000" algn="c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D2224E-4465-C665-464B-A3E8AB7457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05723" y="289987"/>
            <a:ext cx="5642561" cy="3814185"/>
          </a:xfrm>
          <a:prstGeom prst="rect">
            <a:avLst/>
          </a:prstGeom>
          <a:effectLst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1F087A-D5FA-C0E6-EE41-CCCEA3E059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668" y="4434839"/>
            <a:ext cx="11087232" cy="2286723"/>
          </a:xfrm>
          <a:custGeom>
            <a:avLst/>
            <a:gdLst/>
            <a:ahLst/>
            <a:cxnLst/>
            <a:rect l="l" t="t" r="r" b="b"/>
            <a:pathLst>
              <a:path w="2518883" h="2860724">
                <a:moveTo>
                  <a:pt x="0" y="0"/>
                </a:moveTo>
                <a:lnTo>
                  <a:pt x="2518883" y="0"/>
                </a:lnTo>
                <a:lnTo>
                  <a:pt x="2518883" y="2860724"/>
                </a:lnTo>
                <a:lnTo>
                  <a:pt x="0" y="2860724"/>
                </a:lnTo>
                <a:close/>
              </a:path>
            </a:pathLst>
          </a:custGeom>
          <a:effectLst/>
        </p:spPr>
      </p:pic>
    </p:spTree>
    <p:extLst>
      <p:ext uri="{BB962C8B-B14F-4D97-AF65-F5344CB8AC3E}">
        <p14:creationId xmlns:p14="http://schemas.microsoft.com/office/powerpoint/2010/main" val="1909176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DE6D1-8814-63E2-A9D2-79C54C7DB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708" y="-237777"/>
            <a:ext cx="3760692" cy="3453249"/>
          </a:xfrm>
        </p:spPr>
        <p:txBody>
          <a:bodyPr>
            <a:normAutofit/>
          </a:bodyPr>
          <a:lstStyle/>
          <a:p>
            <a:r>
              <a:rPr lang="en-GB" dirty="0"/>
              <a:t>Hash check and signature check</a:t>
            </a:r>
          </a:p>
        </p:txBody>
      </p:sp>
      <p:pic>
        <p:nvPicPr>
          <p:cNvPr id="4" name="Content Placeholder 3" descr="A computer screen with numbers and letters&#10;&#10;AI-generated content may be incorrect.">
            <a:extLst>
              <a:ext uri="{FF2B5EF4-FFF2-40B4-BE49-F238E27FC236}">
                <a16:creationId xmlns:a16="http://schemas.microsoft.com/office/drawing/2014/main" id="{D99EF4B5-7BD6-F78B-0E96-473EF2CD73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17400" y="252783"/>
            <a:ext cx="7735380" cy="35437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D6EE3A-9B96-9FDE-096A-9B551FAB9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11" y="4166557"/>
            <a:ext cx="11071074" cy="2318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131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7F96AAC-1B7F-4BC0-A366-059066805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2E757A-91F5-8C03-D706-0E83ADB42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791851"/>
            <a:ext cx="5746238" cy="1960775"/>
          </a:xfrm>
        </p:spPr>
        <p:txBody>
          <a:bodyPr>
            <a:normAutofit fontScale="90000"/>
          </a:bodyPr>
          <a:lstStyle/>
          <a:p>
            <a:r>
              <a:rPr lang="en-GB" dirty="0"/>
              <a:t>Full communication between ground station and drone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95BC4-793C-B5B5-AEFB-9939CD70F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706" y="3091543"/>
            <a:ext cx="4091232" cy="30425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  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9F77B9A0-807D-4595-AC22-A6DCC4CA15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8446418" y="2940297"/>
            <a:ext cx="3745582" cy="3917703"/>
          </a:xfrm>
          <a:custGeom>
            <a:avLst/>
            <a:gdLst>
              <a:gd name="connsiteX0" fmla="*/ 0 w 1369143"/>
              <a:gd name="connsiteY0" fmla="*/ 0 h 1229160"/>
              <a:gd name="connsiteX1" fmla="*/ 1369143 w 1369143"/>
              <a:gd name="connsiteY1" fmla="*/ 0 h 1229160"/>
              <a:gd name="connsiteX2" fmla="*/ 1369143 w 1369143"/>
              <a:gd name="connsiteY2" fmla="*/ 1229160 h 1229160"/>
              <a:gd name="connsiteX3" fmla="*/ 0 w 1369143"/>
              <a:gd name="connsiteY3" fmla="*/ 1229160 h 1229160"/>
              <a:gd name="connsiteX4" fmla="*/ 0 w 1369143"/>
              <a:gd name="connsiteY4" fmla="*/ 0 h 1229160"/>
              <a:gd name="connsiteX0" fmla="*/ 0 w 1369143"/>
              <a:gd name="connsiteY0" fmla="*/ 0 h 1229160"/>
              <a:gd name="connsiteX1" fmla="*/ 1369143 w 1369143"/>
              <a:gd name="connsiteY1" fmla="*/ 0 h 1229160"/>
              <a:gd name="connsiteX2" fmla="*/ 0 w 1369143"/>
              <a:gd name="connsiteY2" fmla="*/ 1229160 h 1229160"/>
              <a:gd name="connsiteX3" fmla="*/ 0 w 1369143"/>
              <a:gd name="connsiteY3" fmla="*/ 0 h 1229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69143" h="1229160">
                <a:moveTo>
                  <a:pt x="0" y="0"/>
                </a:moveTo>
                <a:lnTo>
                  <a:pt x="1369143" y="0"/>
                </a:lnTo>
                <a:lnTo>
                  <a:pt x="0" y="122916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352FE65-755A-4551-AF5F-AE64CB963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36575" y="2940297"/>
            <a:ext cx="3745582" cy="3917703"/>
          </a:xfrm>
          <a:custGeom>
            <a:avLst/>
            <a:gdLst>
              <a:gd name="connsiteX0" fmla="*/ 3745582 w 3745582"/>
              <a:gd name="connsiteY0" fmla="*/ 0 h 3917703"/>
              <a:gd name="connsiteX1" fmla="*/ 3745582 w 3745582"/>
              <a:gd name="connsiteY1" fmla="*/ 3917703 h 3917703"/>
              <a:gd name="connsiteX2" fmla="*/ 0 w 3745582"/>
              <a:gd name="connsiteY2" fmla="*/ 3917703 h 3917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45582" h="3917703">
                <a:moveTo>
                  <a:pt x="3745582" y="0"/>
                </a:moveTo>
                <a:lnTo>
                  <a:pt x="3745582" y="3917703"/>
                </a:lnTo>
                <a:lnTo>
                  <a:pt x="0" y="3917703"/>
                </a:lnTo>
                <a:close/>
              </a:path>
            </a:pathLst>
          </a:custGeom>
          <a:blipFill dpi="0" rotWithShape="0">
            <a:blip r:embed="rId2">
              <a:alphaModFix amt="9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tile tx="0" ty="0" sx="40000" sy="40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4649B17-CE6E-24FC-1F27-5159709A2D3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948" r="31831" b="1"/>
          <a:stretch>
            <a:fillRect/>
          </a:stretch>
        </p:blipFill>
        <p:spPr>
          <a:xfrm>
            <a:off x="5577840" y="791852"/>
            <a:ext cx="5810711" cy="5279009"/>
          </a:xfrm>
          <a:prstGeom prst="rect">
            <a:avLst/>
          </a:prstGeom>
          <a:effectLst>
            <a:outerShdw dist="190500" dir="18900000" algn="bl" rotWithShape="0">
              <a:schemeClr val="tx1"/>
            </a:outerShdw>
          </a:effectLst>
        </p:spPr>
      </p:pic>
    </p:spTree>
    <p:extLst>
      <p:ext uri="{BB962C8B-B14F-4D97-AF65-F5344CB8AC3E}">
        <p14:creationId xmlns:p14="http://schemas.microsoft.com/office/powerpoint/2010/main" val="2053741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15F17-A7AA-74F1-7CA2-7701EC9A3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3871" y="291972"/>
            <a:ext cx="5378175" cy="2259203"/>
          </a:xfrm>
        </p:spPr>
        <p:txBody>
          <a:bodyPr>
            <a:normAutofit fontScale="90000"/>
          </a:bodyPr>
          <a:lstStyle/>
          <a:p>
            <a:r>
              <a:rPr lang="en-GB" dirty="0"/>
              <a:t>Write protection and read out protection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ADB1D7-C6B7-842D-7A66-1F33F8037D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69280" y="2770326"/>
            <a:ext cx="6035041" cy="395051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02CC25-FAD7-CFC7-D615-6F44074E64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32" y="155448"/>
            <a:ext cx="5284957" cy="4059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370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666D3-16DB-ABC2-A58F-96931EF2F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0" y="2203069"/>
            <a:ext cx="3977640" cy="1438450"/>
          </a:xfrm>
        </p:spPr>
        <p:txBody>
          <a:bodyPr/>
          <a:lstStyle/>
          <a:p>
            <a:r>
              <a:rPr lang="en-GB" dirty="0"/>
              <a:t>thank YOU 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705C3-B09C-11EC-3FD0-F3F50CB69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86862849"/>
      </p:ext>
    </p:extLst>
  </p:cSld>
  <p:clrMapOvr>
    <a:masterClrMapping/>
  </p:clrMapOvr>
</p:sld>
</file>

<file path=ppt/theme/theme1.xml><?xml version="1.0" encoding="utf-8"?>
<a:theme xmlns:a="http://schemas.openxmlformats.org/drawingml/2006/main" name="VeniceBeachVTI">
  <a:themeElements>
    <a:clrScheme name="Venice Beach">
      <a:dk1>
        <a:sysClr val="windowText" lastClr="000000"/>
      </a:dk1>
      <a:lt1>
        <a:sysClr val="window" lastClr="FFFFFF"/>
      </a:lt1>
      <a:dk2>
        <a:srgbClr val="2B3E3D"/>
      </a:dk2>
      <a:lt2>
        <a:srgbClr val="FEF3EB"/>
      </a:lt2>
      <a:accent1>
        <a:srgbClr val="FE8542"/>
      </a:accent1>
      <a:accent2>
        <a:srgbClr val="EC6D60"/>
      </a:accent2>
      <a:accent3>
        <a:srgbClr val="CDA32B"/>
      </a:accent3>
      <a:accent4>
        <a:srgbClr val="EE66A7"/>
      </a:accent4>
      <a:accent5>
        <a:srgbClr val="EA5F48"/>
      </a:accent5>
      <a:accent6>
        <a:srgbClr val="C8466B"/>
      </a:accent6>
      <a:hlink>
        <a:srgbClr val="E46153"/>
      </a:hlink>
      <a:folHlink>
        <a:srgbClr val="CF63B0"/>
      </a:folHlink>
    </a:clrScheme>
    <a:fontScheme name="Avenir 1">
      <a:majorFont>
        <a:latin typeface="Avenir Next LT Pro Ligh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eniceBeachVTI" id="{69839BBA-F383-4FFD-B56A-E36ACE43E09D}" vid="{060D2740-A69C-444A-B833-E03D333ADD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198</Words>
  <Application>Microsoft Office PowerPoint</Application>
  <PresentationFormat>Widescreen</PresentationFormat>
  <Paragraphs>29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Avenir Next LT Pro</vt:lpstr>
      <vt:lpstr>Avenir Next LT Pro Light</vt:lpstr>
      <vt:lpstr>VeniceBeachVTI</vt:lpstr>
      <vt:lpstr>Cyber security for  embedded systems</vt:lpstr>
      <vt:lpstr>Part 1: deployment and assessment of cryptographic models</vt:lpstr>
      <vt:lpstr> </vt:lpstr>
      <vt:lpstr> </vt:lpstr>
      <vt:lpstr>Part 2: mission validation</vt:lpstr>
      <vt:lpstr>Board uid located at 0x1FF0F420</vt:lpstr>
      <vt:lpstr>Hash check and signature check</vt:lpstr>
      <vt:lpstr>Full communication between ground station and drone</vt:lpstr>
      <vt:lpstr>Write protection and read out protection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(s) AKASH</dc:creator>
  <cp:lastModifiedBy>(s) AKASH</cp:lastModifiedBy>
  <cp:revision>1</cp:revision>
  <dcterms:created xsi:type="dcterms:W3CDTF">2025-05-15T03:16:38Z</dcterms:created>
  <dcterms:modified xsi:type="dcterms:W3CDTF">2025-05-15T03:58:50Z</dcterms:modified>
</cp:coreProperties>
</file>